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536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540000"/>
            <a:ext cx="28548000" cy="18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PLACEHOLDER - STUDY TITLE (aim for one line, max 15 words)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664000"/>
            <a:ext cx="28548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7FB3E6"/>
                </a:solidFill>
                <a:latin typeface="Arial"/>
              </a:rPr>
              <a:t>PLACEHOLDER - Author Name (superscript 1)  |  PLACEHOLDER Institution  |  PLACEHOLDER-email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FB3E6"/>
                </a:solidFill>
                <a:latin typeface="Arial"/>
              </a:rPr>
              <a:t>PLACEHOLDER - Conference / venue and date   ·   PLACEHOLDER - poster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000" y="4824000"/>
            <a:ext cx="28548000" cy="1655999"/>
          </a:xfrm>
          <a:prstGeom prst="rect">
            <a:avLst/>
          </a:prstGeom>
          <a:solidFill>
            <a:srgbClr val="E8F1FA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HEADLINE (one sentence, readable at 3 m):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2A4A"/>
                </a:solidFill>
                <a:latin typeface="Arial"/>
              </a:rPr>
              <a:t>PLACEHOLDER - the single claim the poster makes. Suggested, from the claim test: “Combining sentiment and linguistic features reliably beats either alone (F1 0.85 vs 0.79, 6/6 bootstrap CIs exclude zero) — but adds little on top of raw text.”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684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1.  Background</a:t>
            </a:r>
          </a:p>
        </p:txBody>
      </p:sp>
      <p:sp>
        <p:nvSpPr>
          <p:cNvPr id="7" name="accent_rule"/>
          <p:cNvSpPr/>
          <p:nvPr/>
        </p:nvSpPr>
        <p:spPr>
          <a:xfrm>
            <a:off x="864000" y="747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7920000"/>
            <a:ext cx="9084000" cy="396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7FB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88000" rIns="288000" tIns="216000" bIns="216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8C8C8C"/>
                </a:solidFill>
                <a:latin typeface="Arial"/>
              </a:rPr>
              <a:t>PLACEHOLDER - background / problem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C8C8C"/>
                </a:solidFill>
                <a:latin typeface="Arial"/>
              </a:rPr>
              <a:t>3-5 bullets. Why suicide prevention needs an early-warning signal; gap in cheap, scalable, language-light screening.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12167999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2.  Aim and objectives</a:t>
            </a:r>
          </a:p>
        </p:txBody>
      </p:sp>
      <p:sp>
        <p:nvSpPr>
          <p:cNvPr id="10" name="accent_rule"/>
          <p:cNvSpPr/>
          <p:nvPr/>
        </p:nvSpPr>
        <p:spPr>
          <a:xfrm>
            <a:off x="864000" y="12797999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4000" y="13247999"/>
            <a:ext cx="9084000" cy="288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7FB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88000" rIns="288000" tIns="216000" bIns="216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8C8C8C"/>
                </a:solidFill>
                <a:latin typeface="Arial"/>
              </a:rPr>
              <a:t>PLACEHOLDER - aim, and the specific question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C8C8C"/>
                </a:solidFill>
                <a:latin typeface="Arial"/>
              </a:rPr>
              <a:t>State the claim being tested explicitly, so the Results 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16415999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3.  Data</a:t>
            </a:r>
          </a:p>
        </p:txBody>
      </p:sp>
      <p:sp>
        <p:nvSpPr>
          <p:cNvPr id="13" name="accent_rule"/>
          <p:cNvSpPr/>
          <p:nvPr/>
        </p:nvSpPr>
        <p:spPr>
          <a:xfrm>
            <a:off x="864000" y="17045999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17495999"/>
            <a:ext cx="9084000" cy="3331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Mendeley Data DOI 10.17632/z8s6w86tr3.2 (Matin &amp; Alam, 2023), CC BY 4.0.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15,477 Reddit posts → 14,187 after removing empty and duplicate posts.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47.7% at-risk.  Stratified 80/20 split: 11,349 train / 2,838 test.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At-risk: r/SuicideWatch.  Not at-risk: r/CasualConversation, r/BenignExistence, r/CongratsLikeImFive.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Stand-in for Ugandan data not yet available — proof of concept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000" y="21187699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4.  Method</a:t>
            </a:r>
          </a:p>
        </p:txBody>
      </p:sp>
      <p:sp>
        <p:nvSpPr>
          <p:cNvPr id="16" name="accent_rule"/>
          <p:cNvSpPr/>
          <p:nvPr/>
        </p:nvSpPr>
        <p:spPr>
          <a:xfrm>
            <a:off x="864000" y="21817699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000" y="22267699"/>
            <a:ext cx="9084000" cy="3026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Sentiment: 4 VADER scores (neg / neu / pos / compound).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Linguistic: 9 features — first-person pronouns, absolutist words, negation, distress terms, length, punctuation, capitals.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Models: Logistic Regression, Random Forest, XGBoost (all class-balanced).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Ablation over 5 feature sets × 3 models = 15 runs.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Uncertainty: 1000-resample bootstrap CIs, and a paired bootstrap test of ΔF1 for every combined-vs-single comparison.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6000" y="684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5.  Results — which feature groups work?</a:t>
            </a:r>
          </a:p>
        </p:txBody>
      </p:sp>
      <p:sp>
        <p:nvSpPr>
          <p:cNvPr id="19" name="accent_rule"/>
          <p:cNvSpPr/>
          <p:nvPr/>
        </p:nvSpPr>
        <p:spPr>
          <a:xfrm>
            <a:off x="10596000" y="747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blatio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000" y="7920000"/>
            <a:ext cx="9084000" cy="53201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96000" y="13402127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1. Ablation. F1 by feature set and model. Sentiment alone and linguistic alone reach F1 ≈ 0.79; together they reach 0.85. TF-IDF alone is stronger still (0.92).</a:t>
            </a:r>
          </a:p>
        </p:txBody>
      </p:sp>
      <p:pic>
        <p:nvPicPr>
          <p:cNvPr id="22" name="Picture 21" descr="claim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000" y="14302127"/>
            <a:ext cx="9084000" cy="731988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96000" y="21784016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2. The claim test. (A) Combining sentiment + linguistic beats either group alone in all 6 comparisons, every CI clear of zero. (B) Added on top of TF-IDF, the sign flips — no reliable gain.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6000" y="22684016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6.  Model comparison</a:t>
            </a:r>
          </a:p>
        </p:txBody>
      </p:sp>
      <p:sp>
        <p:nvSpPr>
          <p:cNvPr id="25" name="accent_rule"/>
          <p:cNvSpPr/>
          <p:nvPr/>
        </p:nvSpPr>
        <p:spPr>
          <a:xfrm>
            <a:off x="10596000" y="23314016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000" y="23764016"/>
            <a:ext cx="9084000" cy="54777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96000" y="29403725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3. All three models on the full feature set. XGBoost leads on F1 (0.917) and recall (0.909), but its CI overlaps TF-IDF-only Logistic Regression (F1 0.920) — a tie, not a win.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6000" y="30447725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6b.  Summary of all results</a:t>
            </a:r>
          </a:p>
        </p:txBody>
      </p:sp>
      <p:sp>
        <p:nvSpPr>
          <p:cNvPr id="29" name="accent_rule"/>
          <p:cNvSpPr/>
          <p:nvPr/>
        </p:nvSpPr>
        <p:spPr>
          <a:xfrm>
            <a:off x="10596000" y="31077725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0596000" y="31527725"/>
          <a:ext cx="9071999" cy="275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/>
                <a:gridCol w="1655999"/>
                <a:gridCol w="2484000"/>
                <a:gridCol w="1152000"/>
                <a:gridCol w="1188000"/>
              </a:tblGrid>
              <a:tr h="503999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Feature set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Best model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F1 (95% CI)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Sentiment only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0.788  (0.772–0.804)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0.790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0.869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Linguistic only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0.784  (0.768–0.800)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0.787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0.872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Sentiment + linguistic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0.847  (0.832–0.861)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0.846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0.932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TF-IDF only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LogReg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0.920  (0.909–0.930)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0.894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0.977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All features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0.917  (0.906–0.928)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0.909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0.978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96000" y="34461725"/>
            <a:ext cx="90840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Table 1. Strongest model per feature set, with 95% bootstrap CIs (1000 resamples). Every number here is the held-out test set (n = 2,838).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328000" y="684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7.  Which indicators matter?</a:t>
            </a:r>
          </a:p>
        </p:txBody>
      </p:sp>
      <p:sp>
        <p:nvSpPr>
          <p:cNvPr id="33" name="accent_rule"/>
          <p:cNvSpPr/>
          <p:nvPr/>
        </p:nvSpPr>
        <p:spPr>
          <a:xfrm>
            <a:off x="20328000" y="747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8000" y="7920000"/>
            <a:ext cx="9084000" cy="56622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0328000" y="13744208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4. XGBoost gain. VADER negativity and exclamations lead; first-person rate, negation and distress terms follow.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28000" y="14644208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8.  Proposed risk tiers</a:t>
            </a:r>
          </a:p>
        </p:txBody>
      </p:sp>
      <p:sp>
        <p:nvSpPr>
          <p:cNvPr id="37" name="accent_rule"/>
          <p:cNvSpPr/>
          <p:nvPr/>
        </p:nvSpPr>
        <p:spPr>
          <a:xfrm>
            <a:off x="20328000" y="15274208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risk_ti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8000" y="15724208"/>
            <a:ext cx="9084000" cy="46345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0328000" y="20520745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5. Observed at-risk rate rises 5% → 50% → 96% across the three bands, so the score is ordinally informative. Bands are PROPOSED, not clinically validated.</a:t>
            </a:r>
          </a:p>
        </p:txBody>
      </p:sp>
      <p:pic>
        <p:nvPicPr>
          <p:cNvPr id="40" name="Picture 39" descr="confusion_matri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8000" y="21420745"/>
            <a:ext cx="7267200" cy="736466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0328000" y="28947412"/>
            <a:ext cx="72672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6. 9.1% of at-risk posts missed; 6.7% false-alarm rate.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328000" y="29847412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9.  Limitations</a:t>
            </a:r>
          </a:p>
        </p:txBody>
      </p:sp>
      <p:sp>
        <p:nvSpPr>
          <p:cNvPr id="43" name="accent_rule"/>
          <p:cNvSpPr/>
          <p:nvPr/>
        </p:nvSpPr>
        <p:spPr>
          <a:xfrm>
            <a:off x="20328000" y="30477412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328000" y="30927412"/>
            <a:ext cx="9084000" cy="259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Labels come from Reddit communities, not clinicians — no clinical ground truth.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Not Ugandan data. English, Western platform sample; coefficients and thresholds will not transfer without local recalibration.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Risk tiers are proposed, not validated. The Low band holds 49% of posts at 5.3% residual risk, so it is not a safety net at scale.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Lexical shortcut: 57% of at-risk posts contain explicit suicide vocabulary vs 4% of controls. A single-regex baseline already reaches F1 0.71.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Posts treated as independent; no user-level or temporal modelling.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28000" y="33957052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10.  Conclusion and next steps</a:t>
            </a:r>
          </a:p>
        </p:txBody>
      </p:sp>
      <p:sp>
        <p:nvSpPr>
          <p:cNvPr id="46" name="accent_rule"/>
          <p:cNvSpPr/>
          <p:nvPr/>
        </p:nvSpPr>
        <p:spPr>
          <a:xfrm>
            <a:off x="20328000" y="34587052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328000" y="35037052"/>
            <a:ext cx="9084000" cy="1927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Sentiment and linguistic features are cheap, transparent and they combine — F1 0.847 vs 0.788 / 0.785 for either alone.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They add little to raw text, so this supports interpretable screening, not replacement of it.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Next: Ugandan behavioural data, user-level modelling, ethical clearance, and human-in-the-loop triage.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328000" y="37396132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A4A"/>
                </a:solidFill>
                <a:latin typeface="Arial"/>
              </a:rPr>
              <a:t>References</a:t>
            </a:r>
          </a:p>
        </p:txBody>
      </p:sp>
      <p:sp>
        <p:nvSpPr>
          <p:cNvPr id="49" name="accent_rule"/>
          <p:cNvSpPr/>
          <p:nvPr/>
        </p:nvSpPr>
        <p:spPr>
          <a:xfrm>
            <a:off x="20328000" y="38026132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28000" y="38476132"/>
            <a:ext cx="9084000" cy="128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Arial"/>
              </a:rPr>
              <a:t>▪  Matin, M. M. H., &amp; Alam, M. S. (2023). Suicidal Ideation Detection Reddit Dataset (Version 2). Mendeley Data. doi:10.17632/z8s6w86tr3.2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Arial"/>
              </a:rPr>
              <a:t>▪  Hutto, C. J., &amp; Gilbert, E. E. (2014). VADER: A parsimonious rule-based model for sentiment analysis of social media. ICWSM.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Arial"/>
              </a:rPr>
              <a:t>▪  PLACEHOLDER - add the first-person / absolutist-words literature you cite.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42012000"/>
            <a:ext cx="30275999" cy="792000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000" y="42174000"/>
            <a:ext cx="28548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Proof of concept — not a validated clinical tool.  Do not use for triage or screening decisions.  Code and full results: PLACEHOLDER repo/URL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