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400000" cy="32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50400000" cy="32400000"/>
          </a:xfrm>
          <a:prstGeom prst="rect">
            <a:avLst/>
          </a:prstGeom>
          <a:solidFill>
            <a:srgbClr val="F2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432000"/>
            <a:ext cx="49536000" cy="1386000"/>
          </a:xfrm>
          <a:prstGeom prst="rect">
            <a:avLst/>
          </a:prstGeom>
          <a:solidFill>
            <a:srgbClr val="470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818000"/>
            <a:ext cx="49536000" cy="1386000"/>
          </a:xfrm>
          <a:prstGeom prst="rect">
            <a:avLst/>
          </a:prstGeom>
          <a:solidFill>
            <a:srgbClr val="53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3204000"/>
            <a:ext cx="49536000" cy="1386000"/>
          </a:xfrm>
          <a:prstGeom prst="rect">
            <a:avLst/>
          </a:prstGeom>
          <a:solidFill>
            <a:srgbClr val="5F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2000" y="4590000"/>
            <a:ext cx="49536000" cy="1386000"/>
          </a:xfrm>
          <a:prstGeom prst="rect">
            <a:avLst/>
          </a:prstGeom>
          <a:solidFill>
            <a:srgbClr val="6E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5976000"/>
            <a:ext cx="49536000" cy="57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936000"/>
            <a:ext cx="5256000" cy="4031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000" y="936000"/>
            <a:ext cx="5256000" cy="1800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7999" y="1332000"/>
            <a:ext cx="4824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E1423"/>
                </a:solidFill>
                <a:latin typeface="Arial"/>
              </a:rPr>
              <a:t>MAKERERE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6E1423"/>
                </a:solidFill>
                <a:latin typeface="Arial"/>
              </a:rPr>
              <a:t>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4000" y="3600000"/>
            <a:ext cx="2592000" cy="32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7999" y="3780000"/>
            <a:ext cx="4824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6066"/>
                </a:solidFill>
                <a:latin typeface="Arial"/>
              </a:rPr>
              <a:t>Kampala · Uganda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00" y="936000"/>
            <a:ext cx="43200000" cy="27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8000" b="1">
                <a:solidFill>
                  <a:srgbClr val="FFFFFF"/>
                </a:solidFill>
                <a:latin typeface="Arial"/>
              </a:rPr>
              <a:t>Artificial Intelligence and Data-Driven Identification of Suicide Risk Signals Among University Students in Uganda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00000" y="3816000"/>
            <a:ext cx="10800000" cy="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6000" y="3960000"/>
            <a:ext cx="4320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6EAEC"/>
                </a:solidFill>
                <a:latin typeface="Arial"/>
              </a:rPr>
              <a:t>Byamugisha Anthony  ·  Bachelor of Science in Computer Science  ·  YR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00" y="5004000"/>
            <a:ext cx="43200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FD9DD"/>
                </a:solidFill>
                <a:latin typeface="Arial"/>
              </a:rPr>
              <a:t>Makerere University, Kampala, Uganda</a:t>
            </a:r>
          </a:p>
        </p:txBody>
      </p:sp>
      <p:sp>
        <p:nvSpPr>
          <p:cNvPr id="17" name="panel_INTRODUCTION"/>
          <p:cNvSpPr/>
          <p:nvPr/>
        </p:nvSpPr>
        <p:spPr>
          <a:xfrm>
            <a:off x="432000" y="6408000"/>
            <a:ext cx="10152000" cy="8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rip_INTRODUCTION"/>
          <p:cNvSpPr/>
          <p:nvPr/>
        </p:nvSpPr>
        <p:spPr>
          <a:xfrm>
            <a:off x="432000" y="6408000"/>
            <a:ext cx="101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" y="6408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0" y="6408000"/>
            <a:ext cx="92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" y="7560000"/>
            <a:ext cx="9072000" cy="72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B3262E"/>
                </a:solidFill>
                <a:latin typeface="Arial"/>
              </a:rPr>
              <a:t>11.2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2B2325"/>
                </a:solidFill>
                <a:latin typeface="Arial"/>
              </a:rPr>
              <a:t>Deaths per 100,000 in Africa — above the 8.0 global average.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B3262E"/>
                </a:solidFill>
                <a:latin typeface="Arial"/>
              </a:rPr>
              <a:t>0.08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2B2325"/>
                </a:solidFill>
                <a:latin typeface="Arial"/>
              </a:rPr>
              <a:t>Psychiatrists per 100,000 people in Uganda (2016).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800">
                <a:solidFill>
                  <a:srgbClr val="B3262E"/>
                </a:solidFill>
                <a:latin typeface="Arial"/>
              </a:rPr>
              <a:t>▪  </a:t>
            </a:r>
            <a:r>
              <a:rPr sz="2800">
                <a:solidFill>
                  <a:srgbClr val="2B2325"/>
                </a:solidFill>
                <a:latin typeface="Arial"/>
              </a:rPr>
              <a:t>A leading cause of death for ages 15–29, yet stigma and scarce counselling leave many students unidentified.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800">
                <a:solidFill>
                  <a:srgbClr val="B3262E"/>
                </a:solidFill>
                <a:latin typeface="Arial"/>
              </a:rPr>
              <a:t>▪  </a:t>
            </a:r>
            <a:r>
              <a:rPr sz="2800">
                <a:solidFill>
                  <a:srgbClr val="2B2325"/>
                </a:solidFill>
                <a:latin typeface="Arial"/>
              </a:rPr>
              <a:t>In Uganda, men die by suicide nearly 4× as often as women (8.8 vs 2.3 per 100,000, 2021).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1800">
                <a:solidFill>
                  <a:srgbClr val="B3262E"/>
                </a:solidFill>
                <a:latin typeface="Arial"/>
              </a:rPr>
              <a:t>▪  </a:t>
            </a:r>
            <a:r>
              <a:rPr sz="2800">
                <a:solidFill>
                  <a:srgbClr val="2B2325"/>
                </a:solidFill>
                <a:latin typeface="Arial"/>
              </a:rPr>
              <a:t>Students leave written and digital traces of distress that consented, anonymised AI analysis could surface earlier.</a:t>
            </a:r>
          </a:p>
        </p:txBody>
      </p:sp>
      <p:sp>
        <p:nvSpPr>
          <p:cNvPr id="22" name="panel_AIMS AND OBJECTIVES"/>
          <p:cNvSpPr/>
          <p:nvPr/>
        </p:nvSpPr>
        <p:spPr>
          <a:xfrm>
            <a:off x="432000" y="15480000"/>
            <a:ext cx="10152000" cy="820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ip_AIMS_AND_OBJECTIVES"/>
          <p:cNvSpPr/>
          <p:nvPr/>
        </p:nvSpPr>
        <p:spPr>
          <a:xfrm>
            <a:off x="432000" y="15480000"/>
            <a:ext cx="101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" y="15480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0" y="15480000"/>
            <a:ext cx="92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AIMS AND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0" y="16632000"/>
            <a:ext cx="9072000" cy="68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B3262E"/>
                </a:solidFill>
                <a:latin typeface="Arial"/>
              </a:rPr>
              <a:t>Overall aim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400"/>
              </a:spcAft>
            </a:pPr>
            <a:r>
              <a:rPr sz="2800" b="0" i="0">
                <a:solidFill>
                  <a:srgbClr val="2B2325"/>
                </a:solidFill>
                <a:latin typeface="Arial"/>
              </a:rPr>
              <a:t>Build and evaluate an AI framework that flags suicide-risk signals early among Ugandan university students and routes them to professional care.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B3262E"/>
                </a:solidFill>
                <a:latin typeface="Arial"/>
              </a:rPr>
              <a:t>Specific objectives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1.  </a:t>
            </a:r>
            <a:r>
              <a:rPr sz="2800">
                <a:solidFill>
                  <a:srgbClr val="2B2325"/>
                </a:solidFill>
                <a:latin typeface="Arial"/>
              </a:rPr>
              <a:t>Detect distress and ideation signals in anonymised text.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2.  </a:t>
            </a:r>
            <a:r>
              <a:rPr sz="2800">
                <a:solidFill>
                  <a:srgbClr val="2B2325"/>
                </a:solidFill>
                <a:latin typeface="Arial"/>
              </a:rPr>
              <a:t>Compare Logistic Regression, Random Forest and XGBoost.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3.  </a:t>
            </a:r>
            <a:r>
              <a:rPr sz="2800">
                <a:solidFill>
                  <a:srgbClr val="2B2325"/>
                </a:solidFill>
                <a:latin typeface="Arial"/>
              </a:rPr>
              <a:t>Classify risk levels to guide referral for assessment.</a:t>
            </a:r>
          </a:p>
          <a:p>
            <a:pPr>
              <a:lnSpc>
                <a:spcPct val="114000"/>
              </a:lnSpc>
              <a:spcAft>
                <a:spcPts val="100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4.  </a:t>
            </a:r>
            <a:r>
              <a:rPr sz="2800">
                <a:solidFill>
                  <a:srgbClr val="2B2325"/>
                </a:solidFill>
                <a:latin typeface="Arial"/>
              </a:rPr>
              <a:t>Uphold privacy, consent, fairness and cultural sensitivity.</a:t>
            </a:r>
          </a:p>
        </p:txBody>
      </p:sp>
      <p:sp>
        <p:nvSpPr>
          <p:cNvPr id="27" name="panel_METHOD"/>
          <p:cNvSpPr/>
          <p:nvPr/>
        </p:nvSpPr>
        <p:spPr>
          <a:xfrm>
            <a:off x="432000" y="24120000"/>
            <a:ext cx="10152000" cy="78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ip_METHOD"/>
          <p:cNvSpPr/>
          <p:nvPr/>
        </p:nvSpPr>
        <p:spPr>
          <a:xfrm>
            <a:off x="432000" y="24120000"/>
            <a:ext cx="101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000" y="24120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0" y="24120000"/>
            <a:ext cx="92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00" y="25271999"/>
            <a:ext cx="9072000" cy="6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Data — </a:t>
            </a:r>
            <a:r>
              <a:rPr sz="2800">
                <a:solidFill>
                  <a:srgbClr val="2B2325"/>
                </a:solidFill>
                <a:latin typeface="Arial"/>
              </a:rPr>
              <a:t>Anonymised text from student support platforms, counselling interactions and voluntary digital mental-health surveys.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Features — </a:t>
            </a:r>
            <a:r>
              <a:rPr sz="2800">
                <a:solidFill>
                  <a:srgbClr val="2B2325"/>
                </a:solidFill>
                <a:latin typeface="Arial"/>
              </a:rPr>
              <a:t>NLP and sentiment analysis extract language cues; behavioural indicators add context.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Models — </a:t>
            </a:r>
            <a:r>
              <a:rPr sz="2800">
                <a:solidFill>
                  <a:srgbClr val="2B2325"/>
                </a:solidFill>
                <a:latin typeface="Arial"/>
              </a:rPr>
              <a:t>Supervised learning with Logistic Regression, Random Forest and XGBoost.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2800" b="1">
                <a:solidFill>
                  <a:srgbClr val="B3262E"/>
                </a:solidFill>
                <a:latin typeface="Arial"/>
              </a:rPr>
              <a:t>Safeguards — </a:t>
            </a:r>
            <a:r>
              <a:rPr sz="2800">
                <a:solidFill>
                  <a:srgbClr val="2B2325"/>
                </a:solidFill>
                <a:latin typeface="Arial"/>
              </a:rPr>
              <a:t>Informed consent, anonymisation, fairness and cultural sensitivity built in from the start.</a:t>
            </a:r>
          </a:p>
        </p:txBody>
      </p:sp>
      <p:sp>
        <p:nvSpPr>
          <p:cNvPr id="32" name="panel_RESULTS"/>
          <p:cNvSpPr/>
          <p:nvPr/>
        </p:nvSpPr>
        <p:spPr>
          <a:xfrm>
            <a:off x="11016000" y="6408000"/>
            <a:ext cx="38952000" cy="147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rip_RESULTS"/>
          <p:cNvSpPr/>
          <p:nvPr/>
        </p:nvSpPr>
        <p:spPr>
          <a:xfrm>
            <a:off x="11016000" y="6408000"/>
            <a:ext cx="389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016000" y="6408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56000" y="6408000"/>
            <a:ext cx="380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56000" y="7560000"/>
            <a:ext cx="37872000" cy="1339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pic>
        <p:nvPicPr>
          <p:cNvPr id="37" name="Picture 36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2000" y="7632000"/>
            <a:ext cx="18720000" cy="5940000"/>
          </a:xfrm>
          <a:prstGeom prst="rect">
            <a:avLst/>
          </a:prstGeom>
        </p:spPr>
      </p:pic>
      <p:pic>
        <p:nvPicPr>
          <p:cNvPr id="38" name="Picture 37" descr="fig_mod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000" y="7632000"/>
            <a:ext cx="18720000" cy="5940000"/>
          </a:xfrm>
          <a:prstGeom prst="rect">
            <a:avLst/>
          </a:prstGeom>
        </p:spPr>
      </p:pic>
      <p:pic>
        <p:nvPicPr>
          <p:cNvPr id="39" name="Picture 38" descr="fig_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2000" y="13932000"/>
            <a:ext cx="18720000" cy="5940000"/>
          </a:xfrm>
          <a:prstGeom prst="rect">
            <a:avLst/>
          </a:prstGeom>
        </p:spPr>
      </p:pic>
      <p:pic>
        <p:nvPicPr>
          <p:cNvPr id="40" name="Picture 39" descr="fig_feature_import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2000" y="13932000"/>
            <a:ext cx="18720000" cy="5940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592000" y="20376000"/>
            <a:ext cx="37800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1">
                <a:solidFill>
                  <a:srgbClr val="746066"/>
                </a:solidFill>
                <a:latin typeface="Arial"/>
              </a:rPr>
              <a:t>Proof of concept on 14,187 anonymised Reddit posts (public corpus, Mendeley DOI 10.17632/z8s6w86tr3.2) — stand-in for Ugandan data; not a validated clinical tool.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746066"/>
                </a:solidFill>
                <a:latin typeface="Arial"/>
              </a:rPr>
              <a:t>Strongest model: XGBoost, F1 0.917 — statistically tied with TF-IDF-only logistic regression (0.920); combining sentiment + linguistic features beats either alone (6/6 paired tests).</a:t>
            </a:r>
          </a:p>
        </p:txBody>
      </p:sp>
      <p:sp>
        <p:nvSpPr>
          <p:cNvPr id="42" name="panel_CONCLUSIONS"/>
          <p:cNvSpPr/>
          <p:nvPr/>
        </p:nvSpPr>
        <p:spPr>
          <a:xfrm>
            <a:off x="11016000" y="21600000"/>
            <a:ext cx="15552000" cy="103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rip_CONCLUSIONS"/>
          <p:cNvSpPr/>
          <p:nvPr/>
        </p:nvSpPr>
        <p:spPr>
          <a:xfrm>
            <a:off x="11016000" y="21600000"/>
            <a:ext cx="155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016000" y="21600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56000" y="21600000"/>
            <a:ext cx="146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56000" y="22752000"/>
            <a:ext cx="14472000" cy="9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2400">
                <a:solidFill>
                  <a:srgbClr val="B3262E"/>
                </a:solidFill>
                <a:latin typeface="Arial"/>
              </a:rPr>
              <a:t>▪  </a:t>
            </a:r>
            <a:r>
              <a:rPr sz="3400">
                <a:solidFill>
                  <a:srgbClr val="2B2325"/>
                </a:solidFill>
                <a:latin typeface="Arial"/>
              </a:rPr>
              <a:t>AI analysis of anonymised text can surface early risk signals that stigma and limited counselling capacity hide.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2400">
                <a:solidFill>
                  <a:srgbClr val="B3262E"/>
                </a:solidFill>
                <a:latin typeface="Arial"/>
              </a:rPr>
              <a:t>▪  </a:t>
            </a:r>
            <a:r>
              <a:rPr sz="3400">
                <a:solidFill>
                  <a:srgbClr val="2B2325"/>
                </a:solidFill>
                <a:latin typeface="Arial"/>
              </a:rPr>
              <a:t>Combining language and behavioural signals improves identification (preliminary).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2400">
                <a:solidFill>
                  <a:srgbClr val="B3262E"/>
                </a:solidFill>
                <a:latin typeface="Arial"/>
              </a:rPr>
              <a:t>▪  </a:t>
            </a:r>
            <a:r>
              <a:rPr sz="3400">
                <a:solidFill>
                  <a:srgbClr val="2B2325"/>
                </a:solidFill>
                <a:latin typeface="Arial"/>
              </a:rPr>
              <a:t>Models support, and never replace, trained counsellors: every flag leads to human assessment.</a:t>
            </a:r>
          </a:p>
          <a:p>
            <a:pPr>
              <a:lnSpc>
                <a:spcPct val="114000"/>
              </a:lnSpc>
              <a:spcAft>
                <a:spcPts val="1300"/>
              </a:spcAft>
            </a:pPr>
            <a:r>
              <a:rPr sz="2400">
                <a:solidFill>
                  <a:srgbClr val="B3262E"/>
                </a:solidFill>
                <a:latin typeface="Arial"/>
              </a:rPr>
              <a:t>▪  </a:t>
            </a:r>
            <a:r>
              <a:rPr sz="3400">
                <a:solidFill>
                  <a:srgbClr val="2B2325"/>
                </a:solidFill>
                <a:latin typeface="Arial"/>
              </a:rPr>
              <a:t>Privacy, consent, fairness and cultural sensitivity are conditions for use, not add-ons.</a:t>
            </a:r>
          </a:p>
          <a:p>
            <a:pPr algn="ctr">
              <a:lnSpc>
                <a:spcPct val="112000"/>
              </a:lnSpc>
              <a:spcBef>
                <a:spcPts val="2000"/>
              </a:spcBef>
              <a:spcAft>
                <a:spcPts val="0"/>
              </a:spcAft>
            </a:pPr>
            <a:r>
              <a:rPr sz="3000" b="1" i="0">
                <a:solidFill>
                  <a:srgbClr val="B3262E"/>
                </a:solidFill>
                <a:latin typeface="Arial"/>
              </a:rPr>
              <a:t>From silence to action.  Early signals.  Timely referral.</a:t>
            </a:r>
          </a:p>
        </p:txBody>
      </p:sp>
      <p:sp>
        <p:nvSpPr>
          <p:cNvPr id="47" name="panel_RECOMMENDATION"/>
          <p:cNvSpPr/>
          <p:nvPr/>
        </p:nvSpPr>
        <p:spPr>
          <a:xfrm>
            <a:off x="26964000" y="21600000"/>
            <a:ext cx="14256000" cy="103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rip_RECOMMENDATION"/>
          <p:cNvSpPr/>
          <p:nvPr/>
        </p:nvSpPr>
        <p:spPr>
          <a:xfrm>
            <a:off x="26964000" y="21600000"/>
            <a:ext cx="14256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964000" y="21600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504000" y="21600000"/>
            <a:ext cx="13356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504000" y="22752000"/>
            <a:ext cx="13176000" cy="9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1.  </a:t>
            </a:r>
            <a:r>
              <a:rPr sz="3200">
                <a:solidFill>
                  <a:srgbClr val="2B2325"/>
                </a:solidFill>
                <a:latin typeface="Arial"/>
              </a:rPr>
              <a:t>Pilot in university counselling services with ethical clearance and informed consent.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2.  </a:t>
            </a:r>
            <a:r>
              <a:rPr sz="3200">
                <a:solidFill>
                  <a:srgbClr val="2B2325"/>
                </a:solidFill>
                <a:latin typeface="Arial"/>
              </a:rPr>
              <a:t>Keep a human in the loop: the model flags, a counsellor decides.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3.  </a:t>
            </a:r>
            <a:r>
              <a:rPr sz="3200">
                <a:solidFill>
                  <a:srgbClr val="2B2325"/>
                </a:solidFill>
                <a:latin typeface="Arial"/>
              </a:rPr>
              <a:t>Validate on Ugandan English, Luganda and code-switched text for cultural fit.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4.  </a:t>
            </a:r>
            <a:r>
              <a:rPr sz="3200">
                <a:solidFill>
                  <a:srgbClr val="2B2325"/>
                </a:solidFill>
                <a:latin typeface="Arial"/>
              </a:rPr>
              <a:t>Audit fairness across gender, faculty and year of study, and track missed cases.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5.  </a:t>
            </a:r>
            <a:r>
              <a:rPr sz="3200">
                <a:solidFill>
                  <a:srgbClr val="2B2325"/>
                </a:solidFill>
                <a:latin typeface="Arial"/>
              </a:rPr>
              <a:t>Strengthen referral pathways and counsellor capacity alongside national suicide-prevention policy.</a:t>
            </a:r>
          </a:p>
          <a:p>
            <a:pPr>
              <a:lnSpc>
                <a:spcPct val="114000"/>
              </a:lnSpc>
              <a:spcAft>
                <a:spcPts val="1100"/>
              </a:spcAft>
            </a:pPr>
            <a:r>
              <a:rPr sz="3200" b="1">
                <a:solidFill>
                  <a:srgbClr val="B3262E"/>
                </a:solidFill>
                <a:latin typeface="Arial"/>
              </a:rPr>
              <a:t>6.  </a:t>
            </a:r>
            <a:r>
              <a:rPr sz="3200">
                <a:solidFill>
                  <a:srgbClr val="2B2325"/>
                </a:solidFill>
                <a:latin typeface="Arial"/>
              </a:rPr>
              <a:t>Tail it to Uganda and East African population.</a:t>
            </a:r>
          </a:p>
        </p:txBody>
      </p:sp>
      <p:sp>
        <p:nvSpPr>
          <p:cNvPr id="52" name="panel_REFERENCES"/>
          <p:cNvSpPr/>
          <p:nvPr/>
        </p:nvSpPr>
        <p:spPr>
          <a:xfrm>
            <a:off x="41616000" y="21600000"/>
            <a:ext cx="8352000" cy="103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rip_REFERENCES"/>
          <p:cNvSpPr/>
          <p:nvPr/>
        </p:nvSpPr>
        <p:spPr>
          <a:xfrm>
            <a:off x="41616000" y="21600000"/>
            <a:ext cx="8352000" cy="936000"/>
          </a:xfrm>
          <a:prstGeom prst="rect">
            <a:avLst/>
          </a:prstGeom>
          <a:solidFill>
            <a:srgbClr val="6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616000" y="21600000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156000" y="21600000"/>
            <a:ext cx="74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156000" y="22752000"/>
            <a:ext cx="7272000" cy="9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1. </a:t>
            </a:r>
            <a:r>
              <a:rPr sz="2000">
                <a:solidFill>
                  <a:srgbClr val="2B2325"/>
                </a:solidFill>
                <a:latin typeface="Arial"/>
              </a:rPr>
              <a:t>WHO. Suicide (fact sheet). Geneva: World Health Organization.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2. </a:t>
            </a:r>
            <a:r>
              <a:rPr sz="2000">
                <a:solidFill>
                  <a:srgbClr val="2B2325"/>
                </a:solidFill>
                <a:latin typeface="Arial"/>
              </a:rPr>
              <a:t>UN Statistics Division. SDG Global Database, indicator 3.4.2: suicide mortality rate (2021).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3. </a:t>
            </a:r>
            <a:r>
              <a:rPr sz="2000">
                <a:solidFill>
                  <a:srgbClr val="2B2325"/>
                </a:solidFill>
                <a:latin typeface="Arial"/>
              </a:rPr>
              <a:t>Breiman L. Random forests. Machine Learning. 2001;45:5–32.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4. </a:t>
            </a:r>
            <a:r>
              <a:rPr sz="2000">
                <a:solidFill>
                  <a:srgbClr val="2B2325"/>
                </a:solidFill>
                <a:latin typeface="Arial"/>
              </a:rPr>
              <a:t>Chen T, Guestrin C. XGBoost: a scalable tree boosting system. Proc KDD. 2016:785–794.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5. </a:t>
            </a:r>
            <a:r>
              <a:rPr sz="2000">
                <a:solidFill>
                  <a:srgbClr val="2B2325"/>
                </a:solidFill>
                <a:latin typeface="Arial"/>
              </a:rPr>
              <a:t>Coppersmith G, et al. Natural language processing of social media as screening for suicide risk. Biomed Inform Insights. 2018;10.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B3262E"/>
                </a:solidFill>
                <a:latin typeface="Arial"/>
              </a:rPr>
              <a:t>6. </a:t>
            </a:r>
            <a:r>
              <a:rPr sz="2000">
                <a:solidFill>
                  <a:srgbClr val="2B2325"/>
                </a:solidFill>
                <a:latin typeface="Arial"/>
              </a:rPr>
              <a:t>https://github.com/anthonybyamugisha/Suicidal-prevention</a:t>
            </a:r>
          </a:p>
        </p:txBody>
      </p:sp>
      <p:sp>
        <p:nvSpPr>
          <p:cNvPr id="57" name="strip_CONTACT"/>
          <p:cNvSpPr/>
          <p:nvPr/>
        </p:nvSpPr>
        <p:spPr>
          <a:xfrm>
            <a:off x="41616000" y="29375999"/>
            <a:ext cx="8352000" cy="936000"/>
          </a:xfrm>
          <a:prstGeom prst="rect">
            <a:avLst/>
          </a:prstGeom>
          <a:solidFill>
            <a:srgbClr val="B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1616000" y="29375999"/>
            <a:ext cx="198000" cy="936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6000" y="29375999"/>
            <a:ext cx="7452000" cy="93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CONTACT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048000" y="30455999"/>
            <a:ext cx="7488000" cy="12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6E1423"/>
                </a:solidFill>
                <a:latin typeface="Arial"/>
              </a:rPr>
              <a:t>Byamugisha Anthony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B3262E"/>
                </a:solidFill>
                <a:latin typeface="Arial"/>
              </a:rPr>
              <a:t>byamugishanthony@gmail.com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B2325"/>
                </a:solidFill>
                <a:latin typeface="Arial"/>
              </a:rPr>
              <a:t>+256 748 161 708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